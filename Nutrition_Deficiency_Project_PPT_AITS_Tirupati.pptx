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1" r:id="rId16"/>
    <p:sldId id="270" r:id="rId17"/>
    <p:sldId id="272"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D077B2B-90B3-4DF3-9460-834264A65B34}" v="20" dt="2026-06-26T10:12:29.27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768"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uKumari AnuKumari" userId="e014f60cc54ab330" providerId="LiveId" clId="{A479392E-D728-49A4-BDE0-0DFF128559C6}"/>
    <pc:docChg chg="undo custSel addSld modSld">
      <pc:chgData name="AnuKumari AnuKumari" userId="e014f60cc54ab330" providerId="LiveId" clId="{A479392E-D728-49A4-BDE0-0DFF128559C6}" dt="2026-06-26T10:12:42.389" v="701" actId="1076"/>
      <pc:docMkLst>
        <pc:docMk/>
      </pc:docMkLst>
      <pc:sldChg chg="modSp mod">
        <pc:chgData name="AnuKumari AnuKumari" userId="e014f60cc54ab330" providerId="LiveId" clId="{A479392E-D728-49A4-BDE0-0DFF128559C6}" dt="2026-06-26T09:49:08.463" v="128" actId="20577"/>
        <pc:sldMkLst>
          <pc:docMk/>
          <pc:sldMk cId="0" sldId="256"/>
        </pc:sldMkLst>
        <pc:spChg chg="mod">
          <ac:chgData name="AnuKumari AnuKumari" userId="e014f60cc54ab330" providerId="LiveId" clId="{A479392E-D728-49A4-BDE0-0DFF128559C6}" dt="2026-06-26T09:45:56.938" v="44" actId="113"/>
          <ac:spMkLst>
            <pc:docMk/>
            <pc:sldMk cId="0" sldId="256"/>
            <ac:spMk id="2" creationId="{00000000-0000-0000-0000-000000000000}"/>
          </ac:spMkLst>
        </pc:spChg>
        <pc:spChg chg="mod">
          <ac:chgData name="AnuKumari AnuKumari" userId="e014f60cc54ab330" providerId="LiveId" clId="{A479392E-D728-49A4-BDE0-0DFF128559C6}" dt="2026-06-26T09:49:08.463" v="128" actId="20577"/>
          <ac:spMkLst>
            <pc:docMk/>
            <pc:sldMk cId="0" sldId="256"/>
            <ac:spMk id="3" creationId="{00000000-0000-0000-0000-000000000000}"/>
          </ac:spMkLst>
        </pc:spChg>
      </pc:sldChg>
      <pc:sldChg chg="modSp mod">
        <pc:chgData name="AnuKumari AnuKumari" userId="e014f60cc54ab330" providerId="LiveId" clId="{A479392E-D728-49A4-BDE0-0DFF128559C6}" dt="2026-06-26T09:53:00.287" v="246" actId="255"/>
        <pc:sldMkLst>
          <pc:docMk/>
          <pc:sldMk cId="0" sldId="257"/>
        </pc:sldMkLst>
        <pc:spChg chg="mod">
          <ac:chgData name="AnuKumari AnuKumari" userId="e014f60cc54ab330" providerId="LiveId" clId="{A479392E-D728-49A4-BDE0-0DFF128559C6}" dt="2026-06-26T09:49:58.512" v="133" actId="14100"/>
          <ac:spMkLst>
            <pc:docMk/>
            <pc:sldMk cId="0" sldId="257"/>
            <ac:spMk id="2" creationId="{00000000-0000-0000-0000-000000000000}"/>
          </ac:spMkLst>
        </pc:spChg>
        <pc:spChg chg="mod">
          <ac:chgData name="AnuKumari AnuKumari" userId="e014f60cc54ab330" providerId="LiveId" clId="{A479392E-D728-49A4-BDE0-0DFF128559C6}" dt="2026-06-26T09:53:00.287" v="246" actId="255"/>
          <ac:spMkLst>
            <pc:docMk/>
            <pc:sldMk cId="0" sldId="257"/>
            <ac:spMk id="3" creationId="{00000000-0000-0000-0000-000000000000}"/>
          </ac:spMkLst>
        </pc:spChg>
      </pc:sldChg>
      <pc:sldChg chg="modSp mod">
        <pc:chgData name="AnuKumari AnuKumari" userId="e014f60cc54ab330" providerId="LiveId" clId="{A479392E-D728-49A4-BDE0-0DFF128559C6}" dt="2026-06-26T09:52:42.728" v="244" actId="1076"/>
        <pc:sldMkLst>
          <pc:docMk/>
          <pc:sldMk cId="0" sldId="258"/>
        </pc:sldMkLst>
        <pc:spChg chg="mod">
          <ac:chgData name="AnuKumari AnuKumari" userId="e014f60cc54ab330" providerId="LiveId" clId="{A479392E-D728-49A4-BDE0-0DFF128559C6}" dt="2026-06-26T09:50:45.031" v="143" actId="207"/>
          <ac:spMkLst>
            <pc:docMk/>
            <pc:sldMk cId="0" sldId="258"/>
            <ac:spMk id="2" creationId="{00000000-0000-0000-0000-000000000000}"/>
          </ac:spMkLst>
        </pc:spChg>
        <pc:spChg chg="mod">
          <ac:chgData name="AnuKumari AnuKumari" userId="e014f60cc54ab330" providerId="LiveId" clId="{A479392E-D728-49A4-BDE0-0DFF128559C6}" dt="2026-06-26T09:52:42.728" v="244" actId="1076"/>
          <ac:spMkLst>
            <pc:docMk/>
            <pc:sldMk cId="0" sldId="258"/>
            <ac:spMk id="3" creationId="{00000000-0000-0000-0000-000000000000}"/>
          </ac:spMkLst>
        </pc:spChg>
      </pc:sldChg>
      <pc:sldChg chg="modSp mod">
        <pc:chgData name="AnuKumari AnuKumari" userId="e014f60cc54ab330" providerId="LiveId" clId="{A479392E-D728-49A4-BDE0-0DFF128559C6}" dt="2026-06-26T09:54:15.612" v="275" actId="14100"/>
        <pc:sldMkLst>
          <pc:docMk/>
          <pc:sldMk cId="0" sldId="259"/>
        </pc:sldMkLst>
        <pc:spChg chg="mod">
          <ac:chgData name="AnuKumari AnuKumari" userId="e014f60cc54ab330" providerId="LiveId" clId="{A479392E-D728-49A4-BDE0-0DFF128559C6}" dt="2026-06-26T09:53:18.084" v="251" actId="27636"/>
          <ac:spMkLst>
            <pc:docMk/>
            <pc:sldMk cId="0" sldId="259"/>
            <ac:spMk id="2" creationId="{00000000-0000-0000-0000-000000000000}"/>
          </ac:spMkLst>
        </pc:spChg>
        <pc:spChg chg="mod">
          <ac:chgData name="AnuKumari AnuKumari" userId="e014f60cc54ab330" providerId="LiveId" clId="{A479392E-D728-49A4-BDE0-0DFF128559C6}" dt="2026-06-26T09:54:15.612" v="275" actId="14100"/>
          <ac:spMkLst>
            <pc:docMk/>
            <pc:sldMk cId="0" sldId="259"/>
            <ac:spMk id="3" creationId="{00000000-0000-0000-0000-000000000000}"/>
          </ac:spMkLst>
        </pc:spChg>
      </pc:sldChg>
      <pc:sldChg chg="modSp mod">
        <pc:chgData name="AnuKumari AnuKumari" userId="e014f60cc54ab330" providerId="LiveId" clId="{A479392E-D728-49A4-BDE0-0DFF128559C6}" dt="2026-06-26T09:55:23.147" v="300" actId="1076"/>
        <pc:sldMkLst>
          <pc:docMk/>
          <pc:sldMk cId="0" sldId="260"/>
        </pc:sldMkLst>
        <pc:spChg chg="mod">
          <ac:chgData name="AnuKumari AnuKumari" userId="e014f60cc54ab330" providerId="LiveId" clId="{A479392E-D728-49A4-BDE0-0DFF128559C6}" dt="2026-06-26T09:54:34.830" v="280" actId="207"/>
          <ac:spMkLst>
            <pc:docMk/>
            <pc:sldMk cId="0" sldId="260"/>
            <ac:spMk id="2" creationId="{00000000-0000-0000-0000-000000000000}"/>
          </ac:spMkLst>
        </pc:spChg>
        <pc:spChg chg="mod">
          <ac:chgData name="AnuKumari AnuKumari" userId="e014f60cc54ab330" providerId="LiveId" clId="{A479392E-D728-49A4-BDE0-0DFF128559C6}" dt="2026-06-26T09:55:23.147" v="300" actId="1076"/>
          <ac:spMkLst>
            <pc:docMk/>
            <pc:sldMk cId="0" sldId="260"/>
            <ac:spMk id="3" creationId="{00000000-0000-0000-0000-000000000000}"/>
          </ac:spMkLst>
        </pc:spChg>
      </pc:sldChg>
      <pc:sldChg chg="modSp mod">
        <pc:chgData name="AnuKumari AnuKumari" userId="e014f60cc54ab330" providerId="LiveId" clId="{A479392E-D728-49A4-BDE0-0DFF128559C6}" dt="2026-06-26T09:56:34.431" v="329" actId="120"/>
        <pc:sldMkLst>
          <pc:docMk/>
          <pc:sldMk cId="0" sldId="261"/>
        </pc:sldMkLst>
        <pc:spChg chg="mod">
          <ac:chgData name="AnuKumari AnuKumari" userId="e014f60cc54ab330" providerId="LiveId" clId="{A479392E-D728-49A4-BDE0-0DFF128559C6}" dt="2026-06-26T09:55:48.870" v="306" actId="27636"/>
          <ac:spMkLst>
            <pc:docMk/>
            <pc:sldMk cId="0" sldId="261"/>
            <ac:spMk id="2" creationId="{00000000-0000-0000-0000-000000000000}"/>
          </ac:spMkLst>
        </pc:spChg>
        <pc:spChg chg="mod">
          <ac:chgData name="AnuKumari AnuKumari" userId="e014f60cc54ab330" providerId="LiveId" clId="{A479392E-D728-49A4-BDE0-0DFF128559C6}" dt="2026-06-26T09:56:34.431" v="329" actId="120"/>
          <ac:spMkLst>
            <pc:docMk/>
            <pc:sldMk cId="0" sldId="261"/>
            <ac:spMk id="3" creationId="{00000000-0000-0000-0000-000000000000}"/>
          </ac:spMkLst>
        </pc:spChg>
      </pc:sldChg>
      <pc:sldChg chg="modSp mod">
        <pc:chgData name="AnuKumari AnuKumari" userId="e014f60cc54ab330" providerId="LiveId" clId="{A479392E-D728-49A4-BDE0-0DFF128559C6}" dt="2026-06-26T09:58:04.396" v="365" actId="20577"/>
        <pc:sldMkLst>
          <pc:docMk/>
          <pc:sldMk cId="0" sldId="262"/>
        </pc:sldMkLst>
        <pc:spChg chg="mod">
          <ac:chgData name="AnuKumari AnuKumari" userId="e014f60cc54ab330" providerId="LiveId" clId="{A479392E-D728-49A4-BDE0-0DFF128559C6}" dt="2026-06-26T09:57:08.716" v="338" actId="1076"/>
          <ac:spMkLst>
            <pc:docMk/>
            <pc:sldMk cId="0" sldId="262"/>
            <ac:spMk id="2" creationId="{00000000-0000-0000-0000-000000000000}"/>
          </ac:spMkLst>
        </pc:spChg>
        <pc:spChg chg="mod">
          <ac:chgData name="AnuKumari AnuKumari" userId="e014f60cc54ab330" providerId="LiveId" clId="{A479392E-D728-49A4-BDE0-0DFF128559C6}" dt="2026-06-26T09:58:04.396" v="365" actId="20577"/>
          <ac:spMkLst>
            <pc:docMk/>
            <pc:sldMk cId="0" sldId="262"/>
            <ac:spMk id="3" creationId="{00000000-0000-0000-0000-000000000000}"/>
          </ac:spMkLst>
        </pc:spChg>
      </pc:sldChg>
      <pc:sldChg chg="modSp mod">
        <pc:chgData name="AnuKumari AnuKumari" userId="e014f60cc54ab330" providerId="LiveId" clId="{A479392E-D728-49A4-BDE0-0DFF128559C6}" dt="2026-06-26T09:59:23.534" v="400" actId="1076"/>
        <pc:sldMkLst>
          <pc:docMk/>
          <pc:sldMk cId="0" sldId="263"/>
        </pc:sldMkLst>
        <pc:spChg chg="mod">
          <ac:chgData name="AnuKumari AnuKumari" userId="e014f60cc54ab330" providerId="LiveId" clId="{A479392E-D728-49A4-BDE0-0DFF128559C6}" dt="2026-06-26T09:58:39.715" v="371" actId="27636"/>
          <ac:spMkLst>
            <pc:docMk/>
            <pc:sldMk cId="0" sldId="263"/>
            <ac:spMk id="2" creationId="{00000000-0000-0000-0000-000000000000}"/>
          </ac:spMkLst>
        </pc:spChg>
        <pc:spChg chg="mod">
          <ac:chgData name="AnuKumari AnuKumari" userId="e014f60cc54ab330" providerId="LiveId" clId="{A479392E-D728-49A4-BDE0-0DFF128559C6}" dt="2026-06-26T09:59:23.534" v="400" actId="1076"/>
          <ac:spMkLst>
            <pc:docMk/>
            <pc:sldMk cId="0" sldId="263"/>
            <ac:spMk id="3" creationId="{00000000-0000-0000-0000-000000000000}"/>
          </ac:spMkLst>
        </pc:spChg>
      </pc:sldChg>
      <pc:sldChg chg="modSp mod">
        <pc:chgData name="AnuKumari AnuKumari" userId="e014f60cc54ab330" providerId="LiveId" clId="{A479392E-D728-49A4-BDE0-0DFF128559C6}" dt="2026-06-26T10:00:57.858" v="526" actId="1076"/>
        <pc:sldMkLst>
          <pc:docMk/>
          <pc:sldMk cId="0" sldId="264"/>
        </pc:sldMkLst>
        <pc:spChg chg="mod">
          <ac:chgData name="AnuKumari AnuKumari" userId="e014f60cc54ab330" providerId="LiveId" clId="{A479392E-D728-49A4-BDE0-0DFF128559C6}" dt="2026-06-26T10:00:45.588" v="525" actId="1076"/>
          <ac:spMkLst>
            <pc:docMk/>
            <pc:sldMk cId="0" sldId="264"/>
            <ac:spMk id="2" creationId="{00000000-0000-0000-0000-000000000000}"/>
          </ac:spMkLst>
        </pc:spChg>
        <pc:spChg chg="mod">
          <ac:chgData name="AnuKumari AnuKumari" userId="e014f60cc54ab330" providerId="LiveId" clId="{A479392E-D728-49A4-BDE0-0DFF128559C6}" dt="2026-06-26T10:00:57.858" v="526" actId="1076"/>
          <ac:spMkLst>
            <pc:docMk/>
            <pc:sldMk cId="0" sldId="264"/>
            <ac:spMk id="3" creationId="{00000000-0000-0000-0000-000000000000}"/>
          </ac:spMkLst>
        </pc:spChg>
      </pc:sldChg>
      <pc:sldChg chg="modSp mod">
        <pc:chgData name="AnuKumari AnuKumari" userId="e014f60cc54ab330" providerId="LiveId" clId="{A479392E-D728-49A4-BDE0-0DFF128559C6}" dt="2026-06-26T10:02:21.164" v="553" actId="1076"/>
        <pc:sldMkLst>
          <pc:docMk/>
          <pc:sldMk cId="0" sldId="265"/>
        </pc:sldMkLst>
        <pc:spChg chg="mod">
          <ac:chgData name="AnuKumari AnuKumari" userId="e014f60cc54ab330" providerId="LiveId" clId="{A479392E-D728-49A4-BDE0-0DFF128559C6}" dt="2026-06-26T10:02:21.164" v="553" actId="1076"/>
          <ac:spMkLst>
            <pc:docMk/>
            <pc:sldMk cId="0" sldId="265"/>
            <ac:spMk id="2" creationId="{00000000-0000-0000-0000-000000000000}"/>
          </ac:spMkLst>
        </pc:spChg>
        <pc:spChg chg="mod">
          <ac:chgData name="AnuKumari AnuKumari" userId="e014f60cc54ab330" providerId="LiveId" clId="{A479392E-D728-49A4-BDE0-0DFF128559C6}" dt="2026-06-26T10:02:10.121" v="552" actId="14100"/>
          <ac:spMkLst>
            <pc:docMk/>
            <pc:sldMk cId="0" sldId="265"/>
            <ac:spMk id="3" creationId="{00000000-0000-0000-0000-000000000000}"/>
          </ac:spMkLst>
        </pc:spChg>
      </pc:sldChg>
      <pc:sldChg chg="addSp delSp modSp mod">
        <pc:chgData name="AnuKumari AnuKumari" userId="e014f60cc54ab330" providerId="LiveId" clId="{A479392E-D728-49A4-BDE0-0DFF128559C6}" dt="2026-06-26T10:04:58.224" v="568" actId="1076"/>
        <pc:sldMkLst>
          <pc:docMk/>
          <pc:sldMk cId="0" sldId="266"/>
        </pc:sldMkLst>
        <pc:spChg chg="mod">
          <ac:chgData name="AnuKumari AnuKumari" userId="e014f60cc54ab330" providerId="LiveId" clId="{A479392E-D728-49A4-BDE0-0DFF128559C6}" dt="2026-06-26T10:02:44.670" v="558" actId="27636"/>
          <ac:spMkLst>
            <pc:docMk/>
            <pc:sldMk cId="0" sldId="266"/>
            <ac:spMk id="2" creationId="{00000000-0000-0000-0000-000000000000}"/>
          </ac:spMkLst>
        </pc:spChg>
        <pc:spChg chg="del mod">
          <ac:chgData name="AnuKumari AnuKumari" userId="e014f60cc54ab330" providerId="LiveId" clId="{A479392E-D728-49A4-BDE0-0DFF128559C6}" dt="2026-06-26T10:04:43.468" v="564" actId="478"/>
          <ac:spMkLst>
            <pc:docMk/>
            <pc:sldMk cId="0" sldId="266"/>
            <ac:spMk id="3" creationId="{00000000-0000-0000-0000-000000000000}"/>
          </ac:spMkLst>
        </pc:spChg>
        <pc:picChg chg="add mod">
          <ac:chgData name="AnuKumari AnuKumari" userId="e014f60cc54ab330" providerId="LiveId" clId="{A479392E-D728-49A4-BDE0-0DFF128559C6}" dt="2026-06-26T10:04:58.224" v="568" actId="1076"/>
          <ac:picMkLst>
            <pc:docMk/>
            <pc:sldMk cId="0" sldId="266"/>
            <ac:picMk id="5" creationId="{10EE4166-D7C3-E8CF-4DF3-C99A60C7B0CF}"/>
          </ac:picMkLst>
        </pc:picChg>
      </pc:sldChg>
      <pc:sldChg chg="modSp mod">
        <pc:chgData name="AnuKumari AnuKumari" userId="e014f60cc54ab330" providerId="LiveId" clId="{A479392E-D728-49A4-BDE0-0DFF128559C6}" dt="2026-06-26T10:06:25.703" v="601" actId="20577"/>
        <pc:sldMkLst>
          <pc:docMk/>
          <pc:sldMk cId="0" sldId="267"/>
        </pc:sldMkLst>
        <pc:spChg chg="mod">
          <ac:chgData name="AnuKumari AnuKumari" userId="e014f60cc54ab330" providerId="LiveId" clId="{A479392E-D728-49A4-BDE0-0DFF128559C6}" dt="2026-06-26T10:05:18.390" v="573" actId="27636"/>
          <ac:spMkLst>
            <pc:docMk/>
            <pc:sldMk cId="0" sldId="267"/>
            <ac:spMk id="2" creationId="{00000000-0000-0000-0000-000000000000}"/>
          </ac:spMkLst>
        </pc:spChg>
        <pc:spChg chg="mod">
          <ac:chgData name="AnuKumari AnuKumari" userId="e014f60cc54ab330" providerId="LiveId" clId="{A479392E-D728-49A4-BDE0-0DFF128559C6}" dt="2026-06-26T10:06:25.703" v="601" actId="20577"/>
          <ac:spMkLst>
            <pc:docMk/>
            <pc:sldMk cId="0" sldId="267"/>
            <ac:spMk id="3" creationId="{00000000-0000-0000-0000-000000000000}"/>
          </ac:spMkLst>
        </pc:spChg>
      </pc:sldChg>
      <pc:sldChg chg="modSp mod">
        <pc:chgData name="AnuKumari AnuKumari" userId="e014f60cc54ab330" providerId="LiveId" clId="{A479392E-D728-49A4-BDE0-0DFF128559C6}" dt="2026-06-26T10:08:04.127" v="634" actId="14100"/>
        <pc:sldMkLst>
          <pc:docMk/>
          <pc:sldMk cId="0" sldId="268"/>
        </pc:sldMkLst>
        <pc:spChg chg="mod">
          <ac:chgData name="AnuKumari AnuKumari" userId="e014f60cc54ab330" providerId="LiveId" clId="{A479392E-D728-49A4-BDE0-0DFF128559C6}" dt="2026-06-26T10:06:42.980" v="606" actId="27636"/>
          <ac:spMkLst>
            <pc:docMk/>
            <pc:sldMk cId="0" sldId="268"/>
            <ac:spMk id="2" creationId="{00000000-0000-0000-0000-000000000000}"/>
          </ac:spMkLst>
        </pc:spChg>
        <pc:spChg chg="mod">
          <ac:chgData name="AnuKumari AnuKumari" userId="e014f60cc54ab330" providerId="LiveId" clId="{A479392E-D728-49A4-BDE0-0DFF128559C6}" dt="2026-06-26T10:08:04.127" v="634" actId="14100"/>
          <ac:spMkLst>
            <pc:docMk/>
            <pc:sldMk cId="0" sldId="268"/>
            <ac:spMk id="3" creationId="{00000000-0000-0000-0000-000000000000}"/>
          </ac:spMkLst>
        </pc:spChg>
      </pc:sldChg>
      <pc:sldChg chg="modSp mod">
        <pc:chgData name="AnuKumari AnuKumari" userId="e014f60cc54ab330" providerId="LiveId" clId="{A479392E-D728-49A4-BDE0-0DFF128559C6}" dt="2026-06-26T10:09:53.851" v="648" actId="14100"/>
        <pc:sldMkLst>
          <pc:docMk/>
          <pc:sldMk cId="0" sldId="269"/>
        </pc:sldMkLst>
        <pc:spChg chg="mod">
          <ac:chgData name="AnuKumari AnuKumari" userId="e014f60cc54ab330" providerId="LiveId" clId="{A479392E-D728-49A4-BDE0-0DFF128559C6}" dt="2026-06-26T10:08:26.235" v="639" actId="27636"/>
          <ac:spMkLst>
            <pc:docMk/>
            <pc:sldMk cId="0" sldId="269"/>
            <ac:spMk id="2" creationId="{00000000-0000-0000-0000-000000000000}"/>
          </ac:spMkLst>
        </pc:spChg>
        <pc:spChg chg="mod">
          <ac:chgData name="AnuKumari AnuKumari" userId="e014f60cc54ab330" providerId="LiveId" clId="{A479392E-D728-49A4-BDE0-0DFF128559C6}" dt="2026-06-26T10:09:53.851" v="648" actId="14100"/>
          <ac:spMkLst>
            <pc:docMk/>
            <pc:sldMk cId="0" sldId="269"/>
            <ac:spMk id="3" creationId="{00000000-0000-0000-0000-000000000000}"/>
          </ac:spMkLst>
        </pc:spChg>
      </pc:sldChg>
      <pc:sldChg chg="modSp mod">
        <pc:chgData name="AnuKumari AnuKumari" userId="e014f60cc54ab330" providerId="LiveId" clId="{A479392E-D728-49A4-BDE0-0DFF128559C6}" dt="2026-06-26T10:12:08.282" v="695" actId="20577"/>
        <pc:sldMkLst>
          <pc:docMk/>
          <pc:sldMk cId="0" sldId="270"/>
        </pc:sldMkLst>
        <pc:spChg chg="mod">
          <ac:chgData name="AnuKumari AnuKumari" userId="e014f60cc54ab330" providerId="LiveId" clId="{A479392E-D728-49A4-BDE0-0DFF128559C6}" dt="2026-06-26T10:12:08.282" v="695" actId="20577"/>
          <ac:spMkLst>
            <pc:docMk/>
            <pc:sldMk cId="0" sldId="270"/>
            <ac:spMk id="2" creationId="{00000000-0000-0000-0000-000000000000}"/>
          </ac:spMkLst>
        </pc:spChg>
        <pc:spChg chg="mod">
          <ac:chgData name="AnuKumari AnuKumari" userId="e014f60cc54ab330" providerId="LiveId" clId="{A479392E-D728-49A4-BDE0-0DFF128559C6}" dt="2026-06-26T10:12:03.014" v="682" actId="1076"/>
          <ac:spMkLst>
            <pc:docMk/>
            <pc:sldMk cId="0" sldId="270"/>
            <ac:spMk id="3" creationId="{00000000-0000-0000-0000-000000000000}"/>
          </ac:spMkLst>
        </pc:spChg>
      </pc:sldChg>
      <pc:sldChg chg="modSp add mod">
        <pc:chgData name="AnuKumari AnuKumari" userId="e014f60cc54ab330" providerId="LiveId" clId="{A479392E-D728-49A4-BDE0-0DFF128559C6}" dt="2026-06-26T10:10:28.714" v="656" actId="20577"/>
        <pc:sldMkLst>
          <pc:docMk/>
          <pc:sldMk cId="574756430" sldId="271"/>
        </pc:sldMkLst>
        <pc:spChg chg="mod">
          <ac:chgData name="AnuKumari AnuKumari" userId="e014f60cc54ab330" providerId="LiveId" clId="{A479392E-D728-49A4-BDE0-0DFF128559C6}" dt="2026-06-26T10:10:28.714" v="656" actId="20577"/>
          <ac:spMkLst>
            <pc:docMk/>
            <pc:sldMk cId="574756430" sldId="271"/>
            <ac:spMk id="3" creationId="{7C6883ED-BAB2-F662-E513-7999364174EE}"/>
          </ac:spMkLst>
        </pc:spChg>
      </pc:sldChg>
      <pc:sldChg chg="modSp add mod">
        <pc:chgData name="AnuKumari AnuKumari" userId="e014f60cc54ab330" providerId="LiveId" clId="{A479392E-D728-49A4-BDE0-0DFF128559C6}" dt="2026-06-26T10:12:42.389" v="701" actId="1076"/>
        <pc:sldMkLst>
          <pc:docMk/>
          <pc:sldMk cId="319014383" sldId="272"/>
        </pc:sldMkLst>
        <pc:spChg chg="mod">
          <ac:chgData name="AnuKumari AnuKumari" userId="e014f60cc54ab330" providerId="LiveId" clId="{A479392E-D728-49A4-BDE0-0DFF128559C6}" dt="2026-06-26T10:12:35.525" v="700" actId="207"/>
          <ac:spMkLst>
            <pc:docMk/>
            <pc:sldMk cId="319014383" sldId="272"/>
            <ac:spMk id="2" creationId="{577DE36E-10DD-F022-8C4C-807D01C1C6CC}"/>
          </ac:spMkLst>
        </pc:spChg>
        <pc:spChg chg="mod">
          <ac:chgData name="AnuKumari AnuKumari" userId="e014f60cc54ab330" providerId="LiveId" clId="{A479392E-D728-49A4-BDE0-0DFF128559C6}" dt="2026-06-26T10:12:42.389" v="701" actId="1076"/>
          <ac:spMkLst>
            <pc:docMk/>
            <pc:sldMk cId="319014383" sldId="272"/>
            <ac:spMk id="3" creationId="{0AA05787-7240-D910-EC07-465A8426E645}"/>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5729"/>
            <a:ext cx="8229600" cy="856072"/>
          </a:xfrm>
        </p:spPr>
        <p:txBody>
          <a:bodyPr>
            <a:normAutofit fontScale="90000"/>
          </a:bodyPr>
          <a:lstStyle/>
          <a:p>
            <a:br>
              <a:rPr lang="en-US" sz="3600" b="1" dirty="0">
                <a:solidFill>
                  <a:schemeClr val="tx2"/>
                </a:solidFill>
              </a:rPr>
            </a:br>
            <a:r>
              <a:rPr sz="3600" b="1" dirty="0">
                <a:solidFill>
                  <a:schemeClr val="tx2"/>
                </a:solidFill>
              </a:rPr>
              <a:t>Nutrition Deficiency Detection System</a:t>
            </a:r>
            <a:br>
              <a:rPr lang="en-US" b="1" dirty="0">
                <a:solidFill>
                  <a:schemeClr val="tx2"/>
                </a:solidFill>
              </a:rPr>
            </a:br>
            <a:r>
              <a:rPr lang="en-IN" sz="2700" b="1" dirty="0">
                <a:solidFill>
                  <a:srgbClr val="FF0000"/>
                </a:solidFill>
              </a:rPr>
              <a:t>Smart-Bridge Project</a:t>
            </a:r>
            <a:br>
              <a:rPr lang="en-IN" b="1" dirty="0"/>
            </a:br>
            <a:endParaRPr b="1" dirty="0">
              <a:solidFill>
                <a:schemeClr val="tx2"/>
              </a:solidFill>
            </a:endParaRPr>
          </a:p>
        </p:txBody>
      </p:sp>
      <p:sp>
        <p:nvSpPr>
          <p:cNvPr id="3" name="TextBox 2"/>
          <p:cNvSpPr txBox="1"/>
          <p:nvPr/>
        </p:nvSpPr>
        <p:spPr>
          <a:xfrm>
            <a:off x="457200" y="1431403"/>
            <a:ext cx="8229600" cy="5016758"/>
          </a:xfrm>
          <a:prstGeom prst="rect">
            <a:avLst/>
          </a:prstGeom>
          <a:noFill/>
        </p:spPr>
        <p:txBody>
          <a:bodyPr wrap="square">
            <a:spAutoFit/>
          </a:bodyPr>
          <a:lstStyle/>
          <a:p>
            <a:pPr>
              <a:defRPr sz="2000"/>
            </a:pPr>
            <a:r>
              <a:rPr b="1" dirty="0"/>
              <a:t>Submitted By</a:t>
            </a:r>
            <a:r>
              <a:rPr lang="en-US" b="1" dirty="0"/>
              <a:t>:</a:t>
            </a:r>
            <a:br>
              <a:rPr b="1" dirty="0"/>
            </a:br>
            <a:endParaRPr lang="en-US" b="1" dirty="0"/>
          </a:p>
          <a:p>
            <a:pPr>
              <a:defRPr sz="2000"/>
            </a:pPr>
            <a:r>
              <a:rPr b="1" dirty="0"/>
              <a:t>Team Lead:</a:t>
            </a:r>
            <a:br>
              <a:rPr b="1" dirty="0"/>
            </a:br>
            <a:r>
              <a:rPr dirty="0" err="1"/>
              <a:t>Bidla</a:t>
            </a:r>
            <a:r>
              <a:rPr dirty="0"/>
              <a:t> Kumari – 23AK1A0453</a:t>
            </a:r>
            <a:br>
              <a:rPr dirty="0"/>
            </a:br>
            <a:r>
              <a:rPr b="1" dirty="0"/>
              <a:t>Team Members:</a:t>
            </a:r>
            <a:br>
              <a:rPr b="1" dirty="0"/>
            </a:br>
            <a:r>
              <a:rPr dirty="0"/>
              <a:t>Lavanya </a:t>
            </a:r>
            <a:r>
              <a:rPr dirty="0" err="1"/>
              <a:t>Thokala</a:t>
            </a:r>
            <a:r>
              <a:rPr dirty="0"/>
              <a:t> – 23AK1A0455</a:t>
            </a:r>
            <a:br>
              <a:rPr dirty="0"/>
            </a:br>
            <a:r>
              <a:rPr lang="en-US" dirty="0" err="1"/>
              <a:t>Vu</a:t>
            </a:r>
            <a:r>
              <a:rPr dirty="0" err="1"/>
              <a:t>churu</a:t>
            </a:r>
            <a:r>
              <a:rPr dirty="0"/>
              <a:t> Aswini – 23AK1A0412</a:t>
            </a:r>
            <a:br>
              <a:rPr dirty="0"/>
            </a:br>
            <a:r>
              <a:rPr dirty="0"/>
              <a:t>Haneesh</a:t>
            </a:r>
            <a:r>
              <a:rPr lang="en-US" dirty="0"/>
              <a:t> Sherkat Chandan</a:t>
            </a:r>
            <a:r>
              <a:rPr dirty="0"/>
              <a:t> – 23AK1A0420</a:t>
            </a:r>
            <a:br>
              <a:rPr dirty="0"/>
            </a:br>
            <a:r>
              <a:rPr dirty="0" err="1"/>
              <a:t>Moddu</a:t>
            </a:r>
            <a:r>
              <a:rPr dirty="0"/>
              <a:t> Maheswari – 23AK1A0461</a:t>
            </a:r>
            <a:endParaRPr lang="en-US" dirty="0"/>
          </a:p>
          <a:p>
            <a:pPr>
              <a:defRPr sz="2000"/>
            </a:pPr>
            <a:br>
              <a:rPr dirty="0"/>
            </a:br>
            <a:r>
              <a:rPr b="1" dirty="0"/>
              <a:t>Department</a:t>
            </a:r>
            <a:r>
              <a:rPr lang="en-US" b="1" dirty="0"/>
              <a:t>:</a:t>
            </a:r>
            <a:r>
              <a:rPr b="1" dirty="0"/>
              <a:t> </a:t>
            </a:r>
            <a:r>
              <a:rPr dirty="0"/>
              <a:t>Electronics and Communication Engineering (ECE)</a:t>
            </a:r>
            <a:br>
              <a:rPr dirty="0"/>
            </a:br>
            <a:endParaRPr lang="en-US" dirty="0"/>
          </a:p>
          <a:p>
            <a:pPr>
              <a:defRPr sz="2000"/>
            </a:pPr>
            <a:r>
              <a:rPr lang="en-US" b="1" dirty="0"/>
              <a:t>Name</a:t>
            </a:r>
            <a:r>
              <a:rPr lang="en-US" dirty="0"/>
              <a:t> </a:t>
            </a:r>
            <a:r>
              <a:rPr lang="en-US" b="1" dirty="0"/>
              <a:t>Of The Collage: </a:t>
            </a:r>
            <a:r>
              <a:rPr dirty="0"/>
              <a:t>Annamacharya Institute of Technology and Sciences, Tirupati</a:t>
            </a:r>
            <a:br>
              <a:rPr dirty="0"/>
            </a:br>
            <a:endParaRPr lang="en-US" dirty="0"/>
          </a:p>
          <a:p>
            <a:pPr>
              <a:defRPr sz="2000"/>
            </a:pPr>
            <a:r>
              <a:rPr b="1" dirty="0"/>
              <a:t>Academic Year: </a:t>
            </a:r>
            <a:r>
              <a:rPr dirty="0"/>
              <a:t>202</a:t>
            </a:r>
            <a:r>
              <a:rPr lang="en-US" dirty="0"/>
              <a:t>3</a:t>
            </a:r>
            <a:r>
              <a:rPr dirty="0"/>
              <a:t>–2027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47917"/>
          </a:xfrm>
        </p:spPr>
        <p:txBody>
          <a:bodyPr>
            <a:normAutofit/>
          </a:bodyPr>
          <a:lstStyle/>
          <a:p>
            <a:r>
              <a:rPr sz="2800" dirty="0">
                <a:solidFill>
                  <a:schemeClr val="tx2"/>
                </a:solidFill>
              </a:rPr>
              <a:t>Introduction</a:t>
            </a:r>
          </a:p>
        </p:txBody>
      </p:sp>
      <p:sp>
        <p:nvSpPr>
          <p:cNvPr id="3" name="TextBox 2"/>
          <p:cNvSpPr txBox="1"/>
          <p:nvPr/>
        </p:nvSpPr>
        <p:spPr>
          <a:xfrm>
            <a:off x="275304" y="1252630"/>
            <a:ext cx="8603226" cy="4572000"/>
          </a:xfrm>
          <a:prstGeom prst="rect">
            <a:avLst/>
          </a:prstGeom>
          <a:noFill/>
        </p:spPr>
        <p:txBody>
          <a:bodyPr wrap="square">
            <a:spAutoFit/>
          </a:bodyPr>
          <a:lstStyle/>
          <a:p>
            <a:pPr>
              <a:defRPr sz="2000"/>
            </a:pPr>
            <a:r>
              <a:rPr dirty="0"/>
              <a:t>Nutrition deficiency occurs when the body does not receive enough essential nutrients.</a:t>
            </a:r>
            <a:br>
              <a:rPr dirty="0"/>
            </a:br>
            <a:br>
              <a:rPr dirty="0"/>
            </a:br>
            <a:r>
              <a:rPr b="1" dirty="0"/>
              <a:t>This project:</a:t>
            </a:r>
            <a:br>
              <a:rPr b="1" dirty="0"/>
            </a:br>
            <a:r>
              <a:rPr dirty="0"/>
              <a:t>• Collects health details</a:t>
            </a:r>
            <a:br>
              <a:rPr dirty="0"/>
            </a:br>
            <a:r>
              <a:rPr dirty="0"/>
              <a:t>• Analyzes symptoms</a:t>
            </a:r>
            <a:br>
              <a:rPr dirty="0"/>
            </a:br>
            <a:r>
              <a:rPr dirty="0"/>
              <a:t>• Identifies nutrient deficiencies</a:t>
            </a:r>
            <a:br>
              <a:rPr dirty="0"/>
            </a:br>
            <a:r>
              <a:rPr dirty="0"/>
              <a:t>• Suggests food recommendations</a:t>
            </a:r>
            <a:br>
              <a:rPr dirty="0"/>
            </a:br>
            <a:r>
              <a:rPr dirty="0"/>
              <a:t>• Supports healthy diet management</a:t>
            </a:r>
            <a:br>
              <a:rPr dirty="0"/>
            </a:br>
            <a:br>
              <a:rPr dirty="0"/>
            </a:br>
            <a:r>
              <a:rPr b="1" dirty="0"/>
              <a:t>Technologies:</a:t>
            </a:r>
            <a:br>
              <a:rPr dirty="0"/>
            </a:br>
            <a:r>
              <a:rPr dirty="0"/>
              <a:t>Frontend – React.js</a:t>
            </a:r>
            <a:br>
              <a:rPr dirty="0"/>
            </a:br>
            <a:r>
              <a:rPr dirty="0"/>
              <a:t>Backend – Node.js + Express.js</a:t>
            </a:r>
            <a:br>
              <a:rPr dirty="0"/>
            </a:br>
            <a:r>
              <a:rPr dirty="0"/>
              <a:t>Database – MongoDB</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69259"/>
          </a:xfrm>
        </p:spPr>
        <p:txBody>
          <a:bodyPr>
            <a:normAutofit/>
          </a:bodyPr>
          <a:lstStyle/>
          <a:p>
            <a:r>
              <a:rPr sz="2800" dirty="0">
                <a:solidFill>
                  <a:schemeClr val="tx2"/>
                </a:solidFill>
              </a:rPr>
              <a:t>Problem Statement</a:t>
            </a:r>
          </a:p>
        </p:txBody>
      </p:sp>
      <p:sp>
        <p:nvSpPr>
          <p:cNvPr id="3" name="TextBox 2"/>
          <p:cNvSpPr txBox="1"/>
          <p:nvPr/>
        </p:nvSpPr>
        <p:spPr>
          <a:xfrm>
            <a:off x="909484" y="1105145"/>
            <a:ext cx="7325032" cy="5078313"/>
          </a:xfrm>
          <a:prstGeom prst="rect">
            <a:avLst/>
          </a:prstGeom>
          <a:noFill/>
        </p:spPr>
        <p:txBody>
          <a:bodyPr wrap="square">
            <a:spAutoFit/>
          </a:bodyPr>
          <a:lstStyle/>
          <a:p>
            <a:endParaRPr lang="en-IN" b="1" dirty="0"/>
          </a:p>
          <a:p>
            <a:r>
              <a:rPr lang="en-IN" b="1" dirty="0"/>
              <a:t>1. Lack of Nutrition Awareness</a:t>
            </a:r>
            <a:br>
              <a:rPr lang="en-IN" dirty="0"/>
            </a:br>
            <a:r>
              <a:rPr lang="en-IN" dirty="0"/>
              <a:t>Many people do not understand the importance of balanced nutrition and cannot identify early symptoms of nutrient deficiencies. This leads to delayed health improvement.</a:t>
            </a:r>
          </a:p>
          <a:p>
            <a:r>
              <a:rPr lang="en-IN" b="1" dirty="0"/>
              <a:t>2. Delayed Detection of Deficiencies</a:t>
            </a:r>
            <a:br>
              <a:rPr lang="en-IN" dirty="0"/>
            </a:br>
            <a:r>
              <a:rPr lang="en-IN" dirty="0"/>
              <a:t>Traditional health checkups require time and medical consultation. As a result, nutritional deficiencies are often detected at later stages.</a:t>
            </a:r>
          </a:p>
          <a:p>
            <a:r>
              <a:rPr lang="en-IN" b="1" dirty="0"/>
              <a:t>3. Difficulty in Tracking Daily Nutrition</a:t>
            </a:r>
            <a:br>
              <a:rPr lang="en-IN" dirty="0"/>
            </a:br>
            <a:r>
              <a:rPr lang="en-IN" dirty="0"/>
              <a:t>People find it difficult to monitor food intake and maintain proper nutrient balance regularly. This affects overall health.</a:t>
            </a:r>
          </a:p>
          <a:p>
            <a:r>
              <a:rPr lang="en-IN" b="1" dirty="0"/>
              <a:t>4. Limited Access to Instant Guidance</a:t>
            </a:r>
            <a:br>
              <a:rPr lang="en-IN" dirty="0"/>
            </a:br>
            <a:r>
              <a:rPr lang="en-IN" dirty="0"/>
              <a:t>Users may not always have immediate access to nutrition experts or diet recommendations for maintaining healthy habits.</a:t>
            </a:r>
          </a:p>
          <a:p>
            <a:r>
              <a:rPr lang="en-IN" b="1" dirty="0"/>
              <a:t>5. Need for an Automated Solution</a:t>
            </a:r>
            <a:br>
              <a:rPr lang="en-IN" dirty="0"/>
            </a:br>
            <a:r>
              <a:rPr lang="en-IN" dirty="0"/>
              <a:t>There is a need for a digital system that </a:t>
            </a:r>
            <a:r>
              <a:rPr lang="en-IN" dirty="0" err="1"/>
              <a:t>analyzes</a:t>
            </a:r>
            <a:r>
              <a:rPr lang="en-IN" dirty="0"/>
              <a:t> health information and provides quick nutrition deficiency detection with food recommendations.</a:t>
            </a:r>
          </a:p>
          <a:p>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49594"/>
          </a:xfrm>
        </p:spPr>
        <p:txBody>
          <a:bodyPr>
            <a:normAutofit/>
          </a:bodyPr>
          <a:lstStyle/>
          <a:p>
            <a:r>
              <a:rPr sz="2800" dirty="0">
                <a:solidFill>
                  <a:schemeClr val="tx2"/>
                </a:solidFill>
              </a:rPr>
              <a:t>Project Objectives</a:t>
            </a:r>
          </a:p>
        </p:txBody>
      </p:sp>
      <p:sp>
        <p:nvSpPr>
          <p:cNvPr id="3" name="TextBox 2"/>
          <p:cNvSpPr txBox="1"/>
          <p:nvPr/>
        </p:nvSpPr>
        <p:spPr>
          <a:xfrm>
            <a:off x="801329" y="1164139"/>
            <a:ext cx="7782232" cy="5078313"/>
          </a:xfrm>
          <a:prstGeom prst="rect">
            <a:avLst/>
          </a:prstGeom>
          <a:noFill/>
        </p:spPr>
        <p:txBody>
          <a:bodyPr wrap="square">
            <a:spAutoFit/>
          </a:bodyPr>
          <a:lstStyle/>
          <a:p>
            <a:r>
              <a:rPr lang="en-IN" b="1" dirty="0"/>
              <a:t>1. To Detect Nutritional Deficiencies</a:t>
            </a:r>
            <a:br>
              <a:rPr lang="en-IN" dirty="0"/>
            </a:br>
            <a:r>
              <a:rPr lang="en-IN" dirty="0"/>
              <a:t>Develop a system that identifies possible nutrient deficiencies based on user symptoms and health information. This helps users take preventive action early.</a:t>
            </a:r>
          </a:p>
          <a:p>
            <a:r>
              <a:rPr lang="en-IN" b="1" dirty="0"/>
              <a:t>2. To Collect User Health Data</a:t>
            </a:r>
            <a:br>
              <a:rPr lang="en-IN" dirty="0"/>
            </a:br>
            <a:r>
              <a:rPr lang="en-IN" dirty="0"/>
              <a:t>Allow users to enter health details such as age, weight, eating habits, and symptoms for nutritional analysis.</a:t>
            </a:r>
          </a:p>
          <a:p>
            <a:r>
              <a:rPr lang="en-IN" b="1" dirty="0"/>
              <a:t>3. To Provide Food Recommendations</a:t>
            </a:r>
            <a:br>
              <a:rPr lang="en-IN" dirty="0"/>
            </a:br>
            <a:r>
              <a:rPr lang="en-IN" dirty="0"/>
              <a:t>Suggest suitable foods and dietary changes based on identified nutritional deficiencies to improve health.</a:t>
            </a:r>
          </a:p>
          <a:p>
            <a:r>
              <a:rPr lang="en-IN" b="1" dirty="0"/>
              <a:t>4. To Increase Health Awareness</a:t>
            </a:r>
            <a:br>
              <a:rPr lang="en-IN" dirty="0"/>
            </a:br>
            <a:r>
              <a:rPr lang="en-IN" dirty="0"/>
              <a:t>Educate users about balanced nutrition and encourage healthier eating habits through regular monitoring.</a:t>
            </a:r>
          </a:p>
          <a:p>
            <a:r>
              <a:rPr lang="en-IN" b="1" dirty="0"/>
              <a:t>5. To Maintain User Records</a:t>
            </a:r>
            <a:br>
              <a:rPr lang="en-IN" dirty="0"/>
            </a:br>
            <a:r>
              <a:rPr lang="en-IN" dirty="0"/>
              <a:t>Store user information and previous reports securely for future reference and tracking progress.</a:t>
            </a:r>
          </a:p>
          <a:p>
            <a:r>
              <a:rPr lang="en-IN" b="1" dirty="0"/>
              <a:t>6. To Build an Easy and User-Friendly System</a:t>
            </a:r>
            <a:br>
              <a:rPr lang="en-IN" dirty="0"/>
            </a:br>
            <a:r>
              <a:rPr lang="en-IN" dirty="0"/>
              <a:t>Create a simple and accessible platform that allows users to check nutritional status quickly and efficiently.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59427"/>
          </a:xfrm>
        </p:spPr>
        <p:txBody>
          <a:bodyPr>
            <a:normAutofit/>
          </a:bodyPr>
          <a:lstStyle/>
          <a:p>
            <a:r>
              <a:rPr sz="2800" dirty="0">
                <a:solidFill>
                  <a:schemeClr val="tx2"/>
                </a:solidFill>
              </a:rPr>
              <a:t>Existing System</a:t>
            </a:r>
          </a:p>
        </p:txBody>
      </p:sp>
      <p:sp>
        <p:nvSpPr>
          <p:cNvPr id="3" name="TextBox 2"/>
          <p:cNvSpPr txBox="1"/>
          <p:nvPr/>
        </p:nvSpPr>
        <p:spPr>
          <a:xfrm>
            <a:off x="457200" y="1227066"/>
            <a:ext cx="8229600" cy="4524315"/>
          </a:xfrm>
          <a:prstGeom prst="rect">
            <a:avLst/>
          </a:prstGeom>
          <a:noFill/>
        </p:spPr>
        <p:txBody>
          <a:bodyPr wrap="square">
            <a:spAutoFit/>
          </a:bodyPr>
          <a:lstStyle/>
          <a:p>
            <a:endParaRPr lang="en-IN" b="1" dirty="0"/>
          </a:p>
          <a:p>
            <a:r>
              <a:rPr lang="en-IN" b="1" dirty="0"/>
              <a:t>1. Manual Health Consultation</a:t>
            </a:r>
            <a:br>
              <a:rPr lang="en-IN" dirty="0"/>
            </a:br>
            <a:r>
              <a:rPr lang="en-IN" dirty="0"/>
              <a:t>People usually depend on doctors, hospitals, or nutrition experts to identify nutritional deficiencies. This process requires appointments and personal visits.</a:t>
            </a:r>
          </a:p>
          <a:p>
            <a:r>
              <a:rPr lang="en-IN" b="1" dirty="0"/>
              <a:t>2. Traditional Nutritional Assessment</a:t>
            </a:r>
            <a:br>
              <a:rPr lang="en-IN" dirty="0"/>
            </a:br>
            <a:r>
              <a:rPr lang="en-IN" dirty="0"/>
              <a:t>Health reports and diet analysis are mostly done manually through laboratory tests and medical evaluations, which may take time.</a:t>
            </a:r>
          </a:p>
          <a:p>
            <a:r>
              <a:rPr lang="en-IN" b="1" dirty="0"/>
              <a:t>3. Limited Continuous Monitoring</a:t>
            </a:r>
            <a:br>
              <a:rPr lang="en-IN" dirty="0"/>
            </a:br>
            <a:r>
              <a:rPr lang="en-IN" dirty="0"/>
              <a:t>Existing methods do not provide regular tracking of daily nutrition intake and deficiency changes over time.</a:t>
            </a:r>
          </a:p>
          <a:p>
            <a:r>
              <a:rPr lang="en-IN" b="1" dirty="0"/>
              <a:t>4. Higher Cost and Time Consumption</a:t>
            </a:r>
            <a:br>
              <a:rPr lang="en-IN" dirty="0"/>
            </a:br>
            <a:r>
              <a:rPr lang="en-IN" dirty="0"/>
              <a:t>Medical consultations and nutritional assessments can be expensive and time consuming for frequent monitoring.</a:t>
            </a:r>
          </a:p>
          <a:p>
            <a:r>
              <a:rPr lang="en-IN" b="1" dirty="0"/>
              <a:t>5. Lack of Instant Recommendations</a:t>
            </a:r>
            <a:br>
              <a:rPr lang="en-IN" dirty="0"/>
            </a:br>
            <a:r>
              <a:rPr lang="en-IN" dirty="0"/>
              <a:t>Traditional systems generally do not provide immediate food suggestions or quick nutritional guidance after assessment.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008374" cy="747917"/>
          </a:xfrm>
        </p:spPr>
        <p:txBody>
          <a:bodyPr>
            <a:normAutofit/>
          </a:bodyPr>
          <a:lstStyle/>
          <a:p>
            <a:r>
              <a:rPr sz="2800" dirty="0">
                <a:solidFill>
                  <a:schemeClr val="tx2"/>
                </a:solidFill>
              </a:rPr>
              <a:t>Proposed System</a:t>
            </a:r>
          </a:p>
        </p:txBody>
      </p:sp>
      <p:sp>
        <p:nvSpPr>
          <p:cNvPr id="3" name="TextBox 2"/>
          <p:cNvSpPr txBox="1"/>
          <p:nvPr/>
        </p:nvSpPr>
        <p:spPr>
          <a:xfrm>
            <a:off x="457200" y="1409946"/>
            <a:ext cx="8224684" cy="4247317"/>
          </a:xfrm>
          <a:prstGeom prst="rect">
            <a:avLst/>
          </a:prstGeom>
          <a:noFill/>
        </p:spPr>
        <p:txBody>
          <a:bodyPr wrap="square">
            <a:spAutoFit/>
          </a:bodyPr>
          <a:lstStyle/>
          <a:p>
            <a:r>
              <a:rPr lang="en-IN" b="1" dirty="0"/>
              <a:t>1. User Registration and Login</a:t>
            </a:r>
            <a:br>
              <a:rPr lang="en-IN" dirty="0"/>
            </a:br>
            <a:r>
              <a:rPr lang="en-IN" dirty="0"/>
              <a:t>The system allows users to create an account and securely log in to access nutrition analysis and personalized recommendations.</a:t>
            </a:r>
          </a:p>
          <a:p>
            <a:r>
              <a:rPr lang="en-IN" b="1" dirty="0"/>
              <a:t>2. Health Data Collection</a:t>
            </a:r>
            <a:br>
              <a:rPr lang="en-IN" dirty="0"/>
            </a:br>
            <a:r>
              <a:rPr lang="en-IN" dirty="0"/>
              <a:t>Users enter details such as age, weight, symptoms, food habits, and lifestyle information for accurate nutritional assessment.</a:t>
            </a:r>
          </a:p>
          <a:p>
            <a:r>
              <a:rPr lang="en-IN" b="1" dirty="0"/>
              <a:t>3. Nutrition Deficiency Detection</a:t>
            </a:r>
            <a:br>
              <a:rPr lang="en-IN" dirty="0"/>
            </a:br>
            <a:r>
              <a:rPr lang="en-IN" dirty="0"/>
              <a:t>The system </a:t>
            </a:r>
            <a:r>
              <a:rPr lang="en-IN" dirty="0" err="1"/>
              <a:t>analyzes</a:t>
            </a:r>
            <a:r>
              <a:rPr lang="en-IN" dirty="0"/>
              <a:t> the entered data and predicts possible nutrient deficiencies using predefined conditions and logic.</a:t>
            </a:r>
          </a:p>
          <a:p>
            <a:r>
              <a:rPr lang="en-IN" b="1" dirty="0"/>
              <a:t>4. Personalized Food Recommendations</a:t>
            </a:r>
            <a:br>
              <a:rPr lang="en-IN" dirty="0"/>
            </a:br>
            <a:r>
              <a:rPr lang="en-IN" dirty="0"/>
              <a:t>Based on the detected deficiency, the application suggests suitable foods and dietary improvements to support better health.</a:t>
            </a:r>
          </a:p>
          <a:p>
            <a:r>
              <a:rPr lang="en-IN" b="1" dirty="0"/>
              <a:t>5. Report Generation and Monitoring</a:t>
            </a:r>
            <a:br>
              <a:rPr lang="en-IN" dirty="0"/>
            </a:br>
            <a:r>
              <a:rPr lang="en-IN" dirty="0"/>
              <a:t>The system generates nutrition reports and stores user data for future tracking and continuous health monitoring.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3006" y="422122"/>
            <a:ext cx="8229600" cy="561104"/>
          </a:xfrm>
        </p:spPr>
        <p:txBody>
          <a:bodyPr>
            <a:normAutofit/>
          </a:bodyPr>
          <a:lstStyle/>
          <a:p>
            <a:r>
              <a:rPr sz="2800" dirty="0">
                <a:solidFill>
                  <a:schemeClr val="tx2"/>
                </a:solidFill>
              </a:rPr>
              <a:t>Technical Architecture</a:t>
            </a:r>
          </a:p>
        </p:txBody>
      </p:sp>
      <p:sp>
        <p:nvSpPr>
          <p:cNvPr id="3" name="TextBox 2"/>
          <p:cNvSpPr txBox="1"/>
          <p:nvPr/>
        </p:nvSpPr>
        <p:spPr>
          <a:xfrm>
            <a:off x="683341" y="1182231"/>
            <a:ext cx="8057536" cy="5355312"/>
          </a:xfrm>
          <a:prstGeom prst="rect">
            <a:avLst/>
          </a:prstGeom>
          <a:noFill/>
        </p:spPr>
        <p:txBody>
          <a:bodyPr wrap="square">
            <a:spAutoFit/>
          </a:bodyPr>
          <a:lstStyle/>
          <a:p>
            <a:r>
              <a:rPr lang="en-IN" b="1" dirty="0"/>
              <a:t>1. Frontend Layer</a:t>
            </a:r>
            <a:br>
              <a:rPr lang="en-IN" dirty="0"/>
            </a:br>
            <a:r>
              <a:rPr lang="en-IN" dirty="0"/>
              <a:t>The frontend is developed using </a:t>
            </a:r>
            <a:r>
              <a:rPr lang="en-IN" b="1" dirty="0"/>
              <a:t>React.js, HTML, and CSS</a:t>
            </a:r>
            <a:r>
              <a:rPr lang="en-IN" dirty="0"/>
              <a:t> to create an interactive and user-friendly interface where users can enter health details and view results.</a:t>
            </a:r>
          </a:p>
          <a:p>
            <a:r>
              <a:rPr lang="en-IN" b="1" dirty="0"/>
              <a:t>2. Backend Layer</a:t>
            </a:r>
            <a:br>
              <a:rPr lang="en-IN" dirty="0"/>
            </a:br>
            <a:r>
              <a:rPr lang="en-IN" dirty="0"/>
              <a:t>The backend is developed using </a:t>
            </a:r>
            <a:r>
              <a:rPr lang="en-IN" b="1" dirty="0"/>
              <a:t>Node.js and Express.js</a:t>
            </a:r>
            <a:r>
              <a:rPr lang="en-IN" dirty="0"/>
              <a:t> to process user requests, manage application logic, and connect with the database.</a:t>
            </a:r>
          </a:p>
          <a:p>
            <a:r>
              <a:rPr lang="en-IN" b="1" dirty="0"/>
              <a:t>3. Database Layer</a:t>
            </a:r>
            <a:br>
              <a:rPr lang="en-IN" dirty="0"/>
            </a:br>
            <a:r>
              <a:rPr lang="en-IN" b="1" dirty="0"/>
              <a:t>MongoDB</a:t>
            </a:r>
            <a:r>
              <a:rPr lang="en-IN" dirty="0"/>
              <a:t> is used to store user information, health records, nutritional data, and generated reports securely.</a:t>
            </a:r>
          </a:p>
          <a:p>
            <a:r>
              <a:rPr lang="en-IN" b="1" dirty="0"/>
              <a:t>4. API Communication Layer</a:t>
            </a:r>
            <a:br>
              <a:rPr lang="en-IN" dirty="0"/>
            </a:br>
            <a:r>
              <a:rPr lang="en-IN" dirty="0"/>
              <a:t>REST APIs are used for communication between frontend and backend to send user input and retrieve analysis results.</a:t>
            </a:r>
          </a:p>
          <a:p>
            <a:r>
              <a:rPr lang="en-IN" b="1" dirty="0"/>
              <a:t>5. Output Layer</a:t>
            </a:r>
            <a:br>
              <a:rPr lang="en-IN" dirty="0"/>
            </a:br>
            <a:r>
              <a:rPr lang="en-IN" dirty="0"/>
              <a:t>The system processes the collected information and displays nutrition deficiency results along with personalized food recommendations and reports.</a:t>
            </a:r>
          </a:p>
          <a:p>
            <a:endParaRPr lang="en-IN" dirty="0"/>
          </a:p>
          <a:p>
            <a:r>
              <a:rPr lang="en-IN" b="1" dirty="0"/>
              <a:t>Architecture Flow:</a:t>
            </a:r>
          </a:p>
          <a:p>
            <a:r>
              <a:rPr lang="en-IN" b="1" dirty="0"/>
              <a:t>User → Frontend (React.js) → Backend (Node.js + Express.js) → MongoDB → Nutrition Report → User</a:t>
            </a:r>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31607"/>
          </a:xfrm>
        </p:spPr>
        <p:txBody>
          <a:bodyPr>
            <a:normAutofit/>
          </a:bodyPr>
          <a:lstStyle/>
          <a:p>
            <a:r>
              <a:rPr sz="2800" dirty="0">
                <a:solidFill>
                  <a:schemeClr val="tx2"/>
                </a:solidFill>
              </a:rPr>
              <a:t>Functional Requirements</a:t>
            </a:r>
          </a:p>
        </p:txBody>
      </p:sp>
      <p:sp>
        <p:nvSpPr>
          <p:cNvPr id="3" name="TextBox 2"/>
          <p:cNvSpPr txBox="1"/>
          <p:nvPr/>
        </p:nvSpPr>
        <p:spPr>
          <a:xfrm>
            <a:off x="548148" y="1206070"/>
            <a:ext cx="8047703" cy="4247317"/>
          </a:xfrm>
          <a:prstGeom prst="rect">
            <a:avLst/>
          </a:prstGeom>
          <a:noFill/>
        </p:spPr>
        <p:txBody>
          <a:bodyPr wrap="square">
            <a:spAutoFit/>
          </a:bodyPr>
          <a:lstStyle/>
          <a:p>
            <a:r>
              <a:rPr lang="en-IN" b="1" dirty="0"/>
              <a:t>1. User Registration and Login</a:t>
            </a:r>
            <a:br>
              <a:rPr lang="en-IN" dirty="0"/>
            </a:br>
            <a:r>
              <a:rPr lang="en-IN" dirty="0"/>
              <a:t>The system should allow users to create an account and securely log in to access nutrition assessment features and personal reports.</a:t>
            </a:r>
          </a:p>
          <a:p>
            <a:r>
              <a:rPr lang="en-IN" b="1" dirty="0"/>
              <a:t>2. Health Data Input</a:t>
            </a:r>
            <a:br>
              <a:rPr lang="en-IN" dirty="0"/>
            </a:br>
            <a:r>
              <a:rPr lang="en-IN" dirty="0"/>
              <a:t>The system should collect user details such as age, weight, symptoms, food habits, and health information for analysis.</a:t>
            </a:r>
          </a:p>
          <a:p>
            <a:r>
              <a:rPr lang="en-IN" b="1" dirty="0"/>
              <a:t>3. Nutrition Deficiency Analysis</a:t>
            </a:r>
            <a:br>
              <a:rPr lang="en-IN" dirty="0"/>
            </a:br>
            <a:r>
              <a:rPr lang="en-IN" dirty="0"/>
              <a:t>The application should process the entered data and identify possible nutritional deficiencies based on predefined conditions.</a:t>
            </a:r>
          </a:p>
          <a:p>
            <a:r>
              <a:rPr lang="en-IN" b="1" dirty="0"/>
              <a:t>4. Food Recommendation System</a:t>
            </a:r>
            <a:br>
              <a:rPr lang="en-IN" dirty="0"/>
            </a:br>
            <a:r>
              <a:rPr lang="en-IN" dirty="0"/>
              <a:t>The system should provide suitable food suggestions and dietary recommendations according to the detected deficiency.</a:t>
            </a:r>
          </a:p>
          <a:p>
            <a:r>
              <a:rPr lang="en-IN" b="1" dirty="0"/>
              <a:t>5. Report Generation and Data Storage</a:t>
            </a:r>
            <a:br>
              <a:rPr lang="en-IN" dirty="0"/>
            </a:br>
            <a:r>
              <a:rPr lang="en-IN" dirty="0"/>
              <a:t>The system should generate nutrition reports and store user data securely for future monitoring and reference.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8374" y="396099"/>
            <a:ext cx="8229600" cy="659427"/>
          </a:xfrm>
        </p:spPr>
        <p:txBody>
          <a:bodyPr>
            <a:normAutofit/>
          </a:bodyPr>
          <a:lstStyle/>
          <a:p>
            <a:r>
              <a:rPr sz="2800" dirty="0">
                <a:solidFill>
                  <a:schemeClr val="tx2"/>
                </a:solidFill>
              </a:rPr>
              <a:t>Non-Functional Requirements</a:t>
            </a:r>
          </a:p>
        </p:txBody>
      </p:sp>
      <p:sp>
        <p:nvSpPr>
          <p:cNvPr id="3" name="TextBox 2"/>
          <p:cNvSpPr txBox="1"/>
          <p:nvPr/>
        </p:nvSpPr>
        <p:spPr>
          <a:xfrm>
            <a:off x="653845" y="1350952"/>
            <a:ext cx="7698658" cy="4555093"/>
          </a:xfrm>
          <a:prstGeom prst="rect">
            <a:avLst/>
          </a:prstGeom>
          <a:noFill/>
        </p:spPr>
        <p:txBody>
          <a:bodyPr wrap="square">
            <a:spAutoFit/>
          </a:bodyPr>
          <a:lstStyle/>
          <a:p>
            <a:r>
              <a:rPr lang="en-IN" b="1" dirty="0"/>
              <a:t>1. Performance</a:t>
            </a:r>
            <a:br>
              <a:rPr lang="en-IN" dirty="0"/>
            </a:br>
            <a:r>
              <a:rPr lang="en-IN" dirty="0"/>
              <a:t>The system should process user inputs and generate nutrition deficiency results quickly with minimum response time.</a:t>
            </a:r>
          </a:p>
          <a:p>
            <a:r>
              <a:rPr lang="en-IN" b="1" dirty="0"/>
              <a:t>2. Reliability</a:t>
            </a:r>
            <a:br>
              <a:rPr lang="en-IN" dirty="0"/>
            </a:br>
            <a:r>
              <a:rPr lang="en-IN" dirty="0"/>
              <a:t>The application should provide accurate and consistent results while maintaining stable performance during usage.</a:t>
            </a:r>
          </a:p>
          <a:p>
            <a:r>
              <a:rPr lang="en-IN" b="1" dirty="0"/>
              <a:t>3. Security</a:t>
            </a:r>
            <a:br>
              <a:rPr lang="en-IN" dirty="0"/>
            </a:br>
            <a:r>
              <a:rPr lang="en-IN" dirty="0"/>
              <a:t>User health information and personal details should be stored securely and protected from unauthorized access.</a:t>
            </a:r>
          </a:p>
          <a:p>
            <a:r>
              <a:rPr lang="en-IN" b="1" dirty="0"/>
              <a:t>4. Scalability</a:t>
            </a:r>
            <a:br>
              <a:rPr lang="en-IN" dirty="0"/>
            </a:br>
            <a:r>
              <a:rPr lang="en-IN" dirty="0"/>
              <a:t>The system should support an increasing number of users and additional features without affecting performance.</a:t>
            </a:r>
          </a:p>
          <a:p>
            <a:r>
              <a:rPr lang="en-IN" b="1" dirty="0"/>
              <a:t>5. Usability and Maintainability</a:t>
            </a:r>
            <a:br>
              <a:rPr lang="en-IN" dirty="0"/>
            </a:br>
            <a:r>
              <a:rPr lang="en-IN" dirty="0"/>
              <a:t>The application should have a simple user interface and allow easy updates, maintenance, and future improvements.</a:t>
            </a:r>
          </a:p>
          <a:p>
            <a:pPr>
              <a:defRPr sz="2000"/>
            </a:pP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3458" y="283805"/>
            <a:ext cx="8229600" cy="502110"/>
          </a:xfrm>
        </p:spPr>
        <p:txBody>
          <a:bodyPr>
            <a:noAutofit/>
          </a:bodyPr>
          <a:lstStyle/>
          <a:p>
            <a:r>
              <a:rPr sz="2800" dirty="0">
                <a:solidFill>
                  <a:schemeClr val="tx2"/>
                </a:solidFill>
              </a:rPr>
              <a:t>Database Design</a:t>
            </a:r>
          </a:p>
        </p:txBody>
      </p:sp>
      <p:sp>
        <p:nvSpPr>
          <p:cNvPr id="3" name="TextBox 2"/>
          <p:cNvSpPr txBox="1"/>
          <p:nvPr/>
        </p:nvSpPr>
        <p:spPr>
          <a:xfrm>
            <a:off x="580103" y="1134643"/>
            <a:ext cx="8032955" cy="5355312"/>
          </a:xfrm>
          <a:prstGeom prst="rect">
            <a:avLst/>
          </a:prstGeom>
          <a:noFill/>
        </p:spPr>
        <p:txBody>
          <a:bodyPr wrap="square">
            <a:spAutoFit/>
          </a:bodyPr>
          <a:lstStyle/>
          <a:p>
            <a:r>
              <a:rPr lang="en-IN" b="1" dirty="0"/>
              <a:t>1. User Collection</a:t>
            </a:r>
            <a:br>
              <a:rPr lang="en-IN" dirty="0"/>
            </a:br>
            <a:r>
              <a:rPr lang="en-IN" dirty="0"/>
              <a:t>This collection stores user registration details such as </a:t>
            </a:r>
            <a:r>
              <a:rPr lang="en-IN" b="1" dirty="0"/>
              <a:t>Name, Email, Password, Age, and Gender</a:t>
            </a:r>
            <a:r>
              <a:rPr lang="en-IN" dirty="0"/>
              <a:t> to manage user accounts securely.</a:t>
            </a:r>
          </a:p>
          <a:p>
            <a:r>
              <a:rPr lang="en-IN" b="1" dirty="0"/>
              <a:t>2. Health Data Collection</a:t>
            </a:r>
            <a:br>
              <a:rPr lang="en-IN" dirty="0"/>
            </a:br>
            <a:r>
              <a:rPr lang="en-IN" dirty="0"/>
              <a:t>This collection stores health-related information including </a:t>
            </a:r>
            <a:r>
              <a:rPr lang="en-IN" b="1" dirty="0"/>
              <a:t>Weight, Height, Symptoms, Food Habits, and Nutrient Levels</a:t>
            </a:r>
            <a:r>
              <a:rPr lang="en-IN" dirty="0"/>
              <a:t> entered by users.</a:t>
            </a:r>
          </a:p>
          <a:p>
            <a:r>
              <a:rPr lang="en-IN" b="1" dirty="0"/>
              <a:t>3. Nutrition Analysis Collection</a:t>
            </a:r>
            <a:br>
              <a:rPr lang="en-IN" dirty="0"/>
            </a:br>
            <a:r>
              <a:rPr lang="en-IN" dirty="0"/>
              <a:t>This collection stores the processed results of nutritional assessment and identified deficiency details.</a:t>
            </a:r>
          </a:p>
          <a:p>
            <a:r>
              <a:rPr lang="en-IN" b="1" dirty="0"/>
              <a:t>4. Recommendation Collection</a:t>
            </a:r>
            <a:br>
              <a:rPr lang="en-IN" dirty="0"/>
            </a:br>
            <a:r>
              <a:rPr lang="en-IN" dirty="0"/>
              <a:t>This collection contains personalized food suggestions and dietary recommendations generated based on deficiency results.</a:t>
            </a:r>
          </a:p>
          <a:p>
            <a:r>
              <a:rPr lang="en-IN" b="1" dirty="0"/>
              <a:t>5. Report Collection</a:t>
            </a:r>
            <a:br>
              <a:rPr lang="en-IN" dirty="0"/>
            </a:br>
            <a:r>
              <a:rPr lang="en-IN" dirty="0"/>
              <a:t>This collection stores final nutrition reports and maintains previous records for future tracking and monitoring.</a:t>
            </a:r>
          </a:p>
          <a:p>
            <a:endParaRPr lang="en-IN" dirty="0"/>
          </a:p>
          <a:p>
            <a:r>
              <a:rPr lang="en-IN" b="1" dirty="0"/>
              <a:t>Database Flow:</a:t>
            </a:r>
          </a:p>
          <a:p>
            <a:r>
              <a:rPr lang="en-IN" b="1" dirty="0"/>
              <a:t>User → Health Data → Nutrition Analysis → Food Recommendation → Report Storage</a:t>
            </a:r>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49594"/>
          </a:xfrm>
        </p:spPr>
        <p:txBody>
          <a:bodyPr>
            <a:normAutofit/>
          </a:bodyPr>
          <a:lstStyle/>
          <a:p>
            <a:r>
              <a:rPr sz="2800" dirty="0">
                <a:solidFill>
                  <a:schemeClr val="tx2"/>
                </a:solidFill>
              </a:rPr>
              <a:t>ER Diagram</a:t>
            </a:r>
          </a:p>
        </p:txBody>
      </p:sp>
      <p:pic>
        <p:nvPicPr>
          <p:cNvPr id="5" name="Picture 4">
            <a:extLst>
              <a:ext uri="{FF2B5EF4-FFF2-40B4-BE49-F238E27FC236}">
                <a16:creationId xmlns:a16="http://schemas.microsoft.com/office/drawing/2014/main" id="{10EE4166-D7C3-E8CF-4DF3-C99A60C7B0CF}"/>
              </a:ext>
            </a:extLst>
          </p:cNvPr>
          <p:cNvPicPr>
            <a:picLocks noChangeAspect="1"/>
          </p:cNvPicPr>
          <p:nvPr/>
        </p:nvPicPr>
        <p:blipFill>
          <a:blip r:embed="rId2"/>
          <a:stretch>
            <a:fillRect/>
          </a:stretch>
        </p:blipFill>
        <p:spPr>
          <a:xfrm>
            <a:off x="437535" y="1454658"/>
            <a:ext cx="8047703" cy="512870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49594"/>
          </a:xfrm>
        </p:spPr>
        <p:txBody>
          <a:bodyPr>
            <a:normAutofit/>
          </a:bodyPr>
          <a:lstStyle/>
          <a:p>
            <a:r>
              <a:rPr sz="2800" dirty="0">
                <a:solidFill>
                  <a:schemeClr val="tx2"/>
                </a:solidFill>
              </a:rPr>
              <a:t>Development Process</a:t>
            </a:r>
          </a:p>
        </p:txBody>
      </p:sp>
      <p:sp>
        <p:nvSpPr>
          <p:cNvPr id="3" name="TextBox 2"/>
          <p:cNvSpPr txBox="1"/>
          <p:nvPr/>
        </p:nvSpPr>
        <p:spPr>
          <a:xfrm>
            <a:off x="530943" y="1186164"/>
            <a:ext cx="8155857" cy="5078313"/>
          </a:xfrm>
          <a:prstGeom prst="rect">
            <a:avLst/>
          </a:prstGeom>
          <a:noFill/>
        </p:spPr>
        <p:txBody>
          <a:bodyPr wrap="square">
            <a:spAutoFit/>
          </a:bodyPr>
          <a:lstStyle/>
          <a:p>
            <a:r>
              <a:rPr lang="en-IN" b="1" dirty="0"/>
              <a:t>1. Requirement Analysis</a:t>
            </a:r>
            <a:br>
              <a:rPr lang="en-IN" dirty="0"/>
            </a:br>
            <a:r>
              <a:rPr lang="en-IN" dirty="0"/>
              <a:t>The project requirements were collected and </a:t>
            </a:r>
            <a:r>
              <a:rPr lang="en-IN" dirty="0" err="1"/>
              <a:t>Analyzed</a:t>
            </a:r>
            <a:r>
              <a:rPr lang="en-IN" dirty="0"/>
              <a:t> to understand user needs, nutritional deficiency detection methods, and system functionalities.</a:t>
            </a:r>
          </a:p>
          <a:p>
            <a:r>
              <a:rPr lang="en-IN" b="1" dirty="0"/>
              <a:t>2. System Design</a:t>
            </a:r>
            <a:br>
              <a:rPr lang="en-IN" dirty="0"/>
            </a:br>
            <a:r>
              <a:rPr lang="en-IN" dirty="0"/>
              <a:t>The overall architecture, database schema, user interface design, and application workflow were planned before development.</a:t>
            </a:r>
          </a:p>
          <a:p>
            <a:r>
              <a:rPr lang="en-IN" b="1" dirty="0"/>
              <a:t>3. Frontend Development</a:t>
            </a:r>
            <a:br>
              <a:rPr lang="en-IN" dirty="0"/>
            </a:br>
            <a:r>
              <a:rPr lang="en-IN" dirty="0"/>
              <a:t>The user interface was developed using </a:t>
            </a:r>
            <a:r>
              <a:rPr lang="en-IN" b="1" dirty="0"/>
              <a:t>React.js, HTML, and CSS</a:t>
            </a:r>
            <a:r>
              <a:rPr lang="en-IN" dirty="0"/>
              <a:t> to allow users to register, enter health details, and view results.</a:t>
            </a:r>
          </a:p>
          <a:p>
            <a:r>
              <a:rPr lang="en-IN" b="1" dirty="0"/>
              <a:t>4. Backend Development</a:t>
            </a:r>
            <a:br>
              <a:rPr lang="en-IN" dirty="0"/>
            </a:br>
            <a:r>
              <a:rPr lang="en-IN" dirty="0"/>
              <a:t>The backend was developed using </a:t>
            </a:r>
            <a:r>
              <a:rPr lang="en-IN" b="1" dirty="0"/>
              <a:t>Node.js and Express.js</a:t>
            </a:r>
            <a:r>
              <a:rPr lang="en-IN" dirty="0"/>
              <a:t> to handle business logic, process requests, and connect with the database.</a:t>
            </a:r>
          </a:p>
          <a:p>
            <a:r>
              <a:rPr lang="en-IN" b="1" dirty="0"/>
              <a:t>5. Database Integration</a:t>
            </a:r>
            <a:br>
              <a:rPr lang="en-IN" dirty="0"/>
            </a:br>
            <a:r>
              <a:rPr lang="en-IN" b="1" dirty="0"/>
              <a:t>MongoDB</a:t>
            </a:r>
            <a:r>
              <a:rPr lang="en-IN" dirty="0"/>
              <a:t> was configured to store user information, health records, deficiency results, and food recommendations securely.</a:t>
            </a:r>
          </a:p>
          <a:p>
            <a:r>
              <a:rPr lang="en-IN" b="1" dirty="0"/>
              <a:t>6. Testing and Deployment</a:t>
            </a:r>
            <a:br>
              <a:rPr lang="en-IN" dirty="0"/>
            </a:br>
            <a:r>
              <a:rPr lang="en-IN" dirty="0"/>
              <a:t>The application was tested for functionality, performance, and accuracy before final deployment and demonstration.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70936"/>
          </a:xfrm>
        </p:spPr>
        <p:txBody>
          <a:bodyPr>
            <a:normAutofit/>
          </a:bodyPr>
          <a:lstStyle/>
          <a:p>
            <a:r>
              <a:rPr sz="2800" dirty="0">
                <a:solidFill>
                  <a:schemeClr val="tx2"/>
                </a:solidFill>
              </a:rPr>
              <a:t>Execution Flow</a:t>
            </a:r>
          </a:p>
        </p:txBody>
      </p:sp>
      <p:sp>
        <p:nvSpPr>
          <p:cNvPr id="3" name="TextBox 2"/>
          <p:cNvSpPr txBox="1"/>
          <p:nvPr/>
        </p:nvSpPr>
        <p:spPr>
          <a:xfrm>
            <a:off x="530942" y="1065816"/>
            <a:ext cx="8155858" cy="5355312"/>
          </a:xfrm>
          <a:prstGeom prst="rect">
            <a:avLst/>
          </a:prstGeom>
          <a:noFill/>
        </p:spPr>
        <p:txBody>
          <a:bodyPr wrap="square">
            <a:spAutoFit/>
          </a:bodyPr>
          <a:lstStyle/>
          <a:p>
            <a:r>
              <a:rPr lang="en-IN" b="1" dirty="0"/>
              <a:t>1. User Registration and Login</a:t>
            </a:r>
            <a:br>
              <a:rPr lang="en-IN" dirty="0"/>
            </a:br>
            <a:r>
              <a:rPr lang="en-IN" dirty="0"/>
              <a:t>The user creates an account and logs into the system to access nutrition deficiency analysis and personalized recommendations.</a:t>
            </a:r>
          </a:p>
          <a:p>
            <a:r>
              <a:rPr lang="en-IN" b="1" dirty="0"/>
              <a:t>2. Enter Health Information</a:t>
            </a:r>
            <a:br>
              <a:rPr lang="en-IN" dirty="0"/>
            </a:br>
            <a:r>
              <a:rPr lang="en-IN" dirty="0"/>
              <a:t>The user enters required details such as age, weight, symptoms, food habits, and other health-related information.</a:t>
            </a:r>
          </a:p>
          <a:p>
            <a:r>
              <a:rPr lang="en-IN" b="1" dirty="0"/>
              <a:t>3. Data Processing and Analysis</a:t>
            </a:r>
            <a:br>
              <a:rPr lang="en-IN" dirty="0"/>
            </a:br>
            <a:r>
              <a:rPr lang="en-IN" dirty="0"/>
              <a:t>The system processes the entered information and </a:t>
            </a:r>
            <a:r>
              <a:rPr lang="en-IN" dirty="0" err="1"/>
              <a:t>Analyzes</a:t>
            </a:r>
            <a:r>
              <a:rPr lang="en-IN" dirty="0"/>
              <a:t> the data to identify possible nutritional deficiencies.</a:t>
            </a:r>
          </a:p>
          <a:p>
            <a:r>
              <a:rPr lang="en-IN" b="1" dirty="0"/>
              <a:t>4. Generate Nutrition Report</a:t>
            </a:r>
            <a:br>
              <a:rPr lang="en-IN" dirty="0"/>
            </a:br>
            <a:r>
              <a:rPr lang="en-IN" dirty="0"/>
              <a:t>Based on the analysis, the system generates a detailed report showing deficiency status and health insights.</a:t>
            </a:r>
          </a:p>
          <a:p>
            <a:r>
              <a:rPr lang="en-IN" b="1" dirty="0"/>
              <a:t>5. Store Results for Future Reference</a:t>
            </a:r>
            <a:br>
              <a:rPr lang="en-IN" dirty="0"/>
            </a:br>
            <a:r>
              <a:rPr lang="en-IN" dirty="0"/>
              <a:t>The generated reports and recommendations are stored in the database for monitoring and future access.</a:t>
            </a:r>
          </a:p>
          <a:p>
            <a:endParaRPr lang="en-IN" dirty="0"/>
          </a:p>
          <a:p>
            <a:r>
              <a:rPr lang="en-IN" b="1" dirty="0"/>
              <a:t>Flow Representation:</a:t>
            </a:r>
          </a:p>
          <a:p>
            <a:r>
              <a:rPr lang="en-IN" b="1" dirty="0"/>
              <a:t>Login → Enter Health Data → Submit → </a:t>
            </a:r>
            <a:r>
              <a:rPr lang="en-IN" b="1" dirty="0" err="1"/>
              <a:t>Analyzes</a:t>
            </a:r>
            <a:r>
              <a:rPr lang="en-IN" b="1" dirty="0"/>
              <a:t>→ Generate Report → Food Recommendation → Store Results</a:t>
            </a:r>
            <a:endParaRPr lang="en-IN"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90601"/>
          </a:xfrm>
        </p:spPr>
        <p:txBody>
          <a:bodyPr>
            <a:normAutofit/>
          </a:bodyPr>
          <a:lstStyle/>
          <a:p>
            <a:r>
              <a:rPr sz="2800" dirty="0">
                <a:solidFill>
                  <a:schemeClr val="tx2"/>
                </a:solidFill>
              </a:rPr>
              <a:t>Results and Output</a:t>
            </a:r>
          </a:p>
        </p:txBody>
      </p:sp>
      <p:sp>
        <p:nvSpPr>
          <p:cNvPr id="3" name="TextBox 2"/>
          <p:cNvSpPr txBox="1"/>
          <p:nvPr/>
        </p:nvSpPr>
        <p:spPr>
          <a:xfrm>
            <a:off x="457200" y="1114978"/>
            <a:ext cx="8229600" cy="5078313"/>
          </a:xfrm>
          <a:prstGeom prst="rect">
            <a:avLst/>
          </a:prstGeom>
          <a:noFill/>
        </p:spPr>
        <p:txBody>
          <a:bodyPr wrap="square">
            <a:spAutoFit/>
          </a:bodyPr>
          <a:lstStyle/>
          <a:p>
            <a:r>
              <a:rPr lang="en-IN" b="1"/>
              <a:t>1. Successful User Registration and Login</a:t>
            </a:r>
            <a:br>
              <a:rPr lang="en-IN"/>
            </a:br>
            <a:r>
              <a:rPr lang="en-IN"/>
              <a:t>The system allows users to create accounts and securely log in to access nutrition analysis and personalized reports.</a:t>
            </a:r>
          </a:p>
          <a:p>
            <a:r>
              <a:rPr lang="en-IN" b="1"/>
              <a:t>2. Health Data Collection</a:t>
            </a:r>
            <a:br>
              <a:rPr lang="en-IN"/>
            </a:br>
            <a:r>
              <a:rPr lang="en-IN"/>
              <a:t>Users can successfully enter health details such as age, weight, symptoms, and food habits through the application interface.</a:t>
            </a:r>
          </a:p>
          <a:p>
            <a:r>
              <a:rPr lang="en-IN" b="1"/>
              <a:t>3. Nutrition Deficiency Detection</a:t>
            </a:r>
            <a:br>
              <a:rPr lang="en-IN"/>
            </a:br>
            <a:r>
              <a:rPr lang="en-IN"/>
              <a:t>The system analyzes the entered information and identifies possible nutritional deficiencies accurately.</a:t>
            </a:r>
          </a:p>
          <a:p>
            <a:r>
              <a:rPr lang="en-IN" b="1"/>
              <a:t>4. Generation of Nutrition Reports</a:t>
            </a:r>
            <a:br>
              <a:rPr lang="en-IN"/>
            </a:br>
            <a:r>
              <a:rPr lang="en-IN"/>
              <a:t>After analysis, the application generates a report showing detected deficiencies and health recommendations.</a:t>
            </a:r>
          </a:p>
          <a:p>
            <a:r>
              <a:rPr lang="en-IN" b="1"/>
              <a:t>5. Personalized Food Recommendations</a:t>
            </a:r>
            <a:br>
              <a:rPr lang="en-IN"/>
            </a:br>
            <a:r>
              <a:rPr lang="en-IN"/>
              <a:t>The system provides suitable food suggestions and dietary plans based on the identified nutritional deficiency.</a:t>
            </a:r>
          </a:p>
          <a:p>
            <a:r>
              <a:rPr lang="en-IN" b="1"/>
              <a:t>6. Data Storage and Monitoring</a:t>
            </a:r>
            <a:br>
              <a:rPr lang="en-IN"/>
            </a:br>
            <a:r>
              <a:rPr lang="en-IN"/>
              <a:t>All user information and generated reports are stored in the database for future reference and continuous health tracking.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E9826-87A5-E3F8-1B2A-DF03810A44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FB8F8A-97CF-D055-590F-DE3B1822AE05}"/>
              </a:ext>
            </a:extLst>
          </p:cNvPr>
          <p:cNvSpPr>
            <a:spLocks noGrp="1"/>
          </p:cNvSpPr>
          <p:nvPr>
            <p:ph type="title"/>
          </p:nvPr>
        </p:nvSpPr>
        <p:spPr>
          <a:xfrm>
            <a:off x="457200" y="274638"/>
            <a:ext cx="8229600" cy="590601"/>
          </a:xfrm>
        </p:spPr>
        <p:txBody>
          <a:bodyPr>
            <a:normAutofit/>
          </a:bodyPr>
          <a:lstStyle/>
          <a:p>
            <a:r>
              <a:rPr sz="2800" dirty="0">
                <a:solidFill>
                  <a:schemeClr val="tx2"/>
                </a:solidFill>
              </a:rPr>
              <a:t>Results and Output</a:t>
            </a:r>
          </a:p>
        </p:txBody>
      </p:sp>
      <p:sp>
        <p:nvSpPr>
          <p:cNvPr id="3" name="TextBox 2">
            <a:extLst>
              <a:ext uri="{FF2B5EF4-FFF2-40B4-BE49-F238E27FC236}">
                <a16:creationId xmlns:a16="http://schemas.microsoft.com/office/drawing/2014/main" id="{7C6883ED-BAB2-F662-E513-7999364174EE}"/>
              </a:ext>
            </a:extLst>
          </p:cNvPr>
          <p:cNvSpPr txBox="1"/>
          <p:nvPr/>
        </p:nvSpPr>
        <p:spPr>
          <a:xfrm>
            <a:off x="757084" y="1350952"/>
            <a:ext cx="7629832" cy="3724096"/>
          </a:xfrm>
          <a:prstGeom prst="rect">
            <a:avLst/>
          </a:prstGeom>
          <a:noFill/>
        </p:spPr>
        <p:txBody>
          <a:bodyPr wrap="square">
            <a:spAutoFit/>
          </a:bodyPr>
          <a:lstStyle/>
          <a:p>
            <a:r>
              <a:rPr lang="en-IN" b="1" dirty="0"/>
              <a:t>Sample Output:</a:t>
            </a:r>
          </a:p>
          <a:p>
            <a:endParaRPr lang="en-IN" b="1" dirty="0"/>
          </a:p>
          <a:p>
            <a:r>
              <a:rPr lang="en-IN" b="1" dirty="0"/>
              <a:t>User Input:</a:t>
            </a:r>
            <a:br>
              <a:rPr lang="en-IN" dirty="0"/>
            </a:br>
            <a:r>
              <a:rPr lang="en-IN" dirty="0"/>
              <a:t>Age – 20 Years</a:t>
            </a:r>
            <a:br>
              <a:rPr lang="en-IN" dirty="0"/>
            </a:br>
            <a:r>
              <a:rPr lang="en-IN" dirty="0"/>
              <a:t>Weight – 55 kg</a:t>
            </a:r>
            <a:br>
              <a:rPr lang="en-IN" dirty="0"/>
            </a:br>
            <a:r>
              <a:rPr lang="en-IN" dirty="0"/>
              <a:t>Symptoms – Fatigue, Weakness</a:t>
            </a:r>
          </a:p>
          <a:p>
            <a:endParaRPr lang="en-IN" dirty="0"/>
          </a:p>
          <a:p>
            <a:r>
              <a:rPr lang="en-IN" b="1" dirty="0"/>
              <a:t>Detected Result:</a:t>
            </a:r>
            <a:br>
              <a:rPr lang="en-IN" dirty="0"/>
            </a:br>
            <a:r>
              <a:rPr lang="en-IN" dirty="0"/>
              <a:t>Iron Deficiency</a:t>
            </a:r>
          </a:p>
          <a:p>
            <a:endParaRPr lang="en-IN" dirty="0"/>
          </a:p>
          <a:p>
            <a:r>
              <a:rPr lang="en-IN" b="1" dirty="0"/>
              <a:t>Recommended Foods:</a:t>
            </a:r>
            <a:br>
              <a:rPr lang="en-IN" dirty="0"/>
            </a:br>
            <a:r>
              <a:rPr lang="en-IN" dirty="0"/>
              <a:t>Spinach, Eggs, Beans, Green Leafy Vegetables, Dry Fruits</a:t>
            </a:r>
          </a:p>
          <a:p>
            <a:pPr>
              <a:defRPr sz="2000"/>
            </a:pPr>
            <a:endParaRPr dirty="0"/>
          </a:p>
        </p:txBody>
      </p:sp>
    </p:spTree>
    <p:extLst>
      <p:ext uri="{BB962C8B-B14F-4D97-AF65-F5344CB8AC3E}">
        <p14:creationId xmlns:p14="http://schemas.microsoft.com/office/powerpoint/2010/main" val="5747564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92278"/>
          </a:xfrm>
        </p:spPr>
        <p:txBody>
          <a:bodyPr>
            <a:noAutofit/>
          </a:bodyPr>
          <a:lstStyle/>
          <a:p>
            <a:r>
              <a:rPr sz="2800" dirty="0">
                <a:solidFill>
                  <a:schemeClr val="tx2"/>
                </a:solidFill>
              </a:rPr>
              <a:t>Future Scope</a:t>
            </a:r>
          </a:p>
        </p:txBody>
      </p:sp>
      <p:sp>
        <p:nvSpPr>
          <p:cNvPr id="3" name="TextBox 2"/>
          <p:cNvSpPr txBox="1"/>
          <p:nvPr/>
        </p:nvSpPr>
        <p:spPr>
          <a:xfrm>
            <a:off x="390832" y="1124811"/>
            <a:ext cx="8362335" cy="5078313"/>
          </a:xfrm>
          <a:prstGeom prst="rect">
            <a:avLst/>
          </a:prstGeom>
          <a:noFill/>
        </p:spPr>
        <p:txBody>
          <a:bodyPr wrap="square">
            <a:spAutoFit/>
          </a:bodyPr>
          <a:lstStyle/>
          <a:p>
            <a:r>
              <a:rPr lang="en-IN" b="1" dirty="0"/>
              <a:t>1. Artificial Intelligence Integration</a:t>
            </a:r>
            <a:br>
              <a:rPr lang="en-IN" dirty="0"/>
            </a:br>
            <a:r>
              <a:rPr lang="en-IN" dirty="0"/>
              <a:t>Advanced AI models can be implemented to improve prediction accuracy and provide smarter health analysis.</a:t>
            </a:r>
          </a:p>
          <a:p>
            <a:r>
              <a:rPr lang="en-IN" b="1" dirty="0"/>
              <a:t>2. Mobile Application Development</a:t>
            </a:r>
            <a:br>
              <a:rPr lang="en-IN" dirty="0"/>
            </a:br>
            <a:r>
              <a:rPr lang="en-IN" dirty="0"/>
              <a:t>The project can be expanded into a mobile application for easy access anytime and anywhere.</a:t>
            </a:r>
          </a:p>
          <a:p>
            <a:r>
              <a:rPr lang="en-IN" b="1" dirty="0"/>
              <a:t>3. Real-Time Health Monitoring</a:t>
            </a:r>
            <a:br>
              <a:rPr lang="en-IN" dirty="0"/>
            </a:br>
            <a:r>
              <a:rPr lang="en-IN" dirty="0"/>
              <a:t>Integration with wearable devices can enable continuous monitoring of user health and nutrition.</a:t>
            </a:r>
          </a:p>
          <a:p>
            <a:r>
              <a:rPr lang="en-IN" b="1" dirty="0"/>
              <a:t>4. Personalized Diet Planning</a:t>
            </a:r>
            <a:br>
              <a:rPr lang="en-IN" dirty="0"/>
            </a:br>
            <a:r>
              <a:rPr lang="en-IN" dirty="0"/>
              <a:t>The system can generate customized diet plans according to user preferences and nutritional requirements.</a:t>
            </a:r>
          </a:p>
          <a:p>
            <a:r>
              <a:rPr lang="en-IN" b="1" dirty="0"/>
              <a:t>5. Multi-Language Support</a:t>
            </a:r>
            <a:br>
              <a:rPr lang="en-IN" dirty="0"/>
            </a:br>
            <a:r>
              <a:rPr lang="en-IN" dirty="0"/>
              <a:t>Future versions can support multiple languages to make the application accessible to more users.</a:t>
            </a:r>
          </a:p>
          <a:p>
            <a:r>
              <a:rPr lang="en-IN" b="1" dirty="0"/>
              <a:t>6. Cloud-Based Data Management</a:t>
            </a:r>
            <a:br>
              <a:rPr lang="en-IN" dirty="0"/>
            </a:br>
            <a:r>
              <a:rPr lang="en-IN" dirty="0"/>
              <a:t>Cloud integration can improve data storage, security, and accessibility across different devices.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B8182D-BAD9-B809-1170-0C54FBE92B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7DE36E-10DD-F022-8C4C-807D01C1C6CC}"/>
              </a:ext>
            </a:extLst>
          </p:cNvPr>
          <p:cNvSpPr>
            <a:spLocks noGrp="1"/>
          </p:cNvSpPr>
          <p:nvPr>
            <p:ph type="title"/>
          </p:nvPr>
        </p:nvSpPr>
        <p:spPr>
          <a:xfrm>
            <a:off x="457200" y="274638"/>
            <a:ext cx="8229600" cy="492278"/>
          </a:xfrm>
        </p:spPr>
        <p:txBody>
          <a:bodyPr>
            <a:noAutofit/>
          </a:bodyPr>
          <a:lstStyle/>
          <a:p>
            <a:r>
              <a:rPr lang="en-IN" sz="2800" b="1" dirty="0">
                <a:solidFill>
                  <a:schemeClr val="tx2"/>
                </a:solidFill>
              </a:rPr>
              <a:t>Conclusion</a:t>
            </a:r>
          </a:p>
        </p:txBody>
      </p:sp>
      <p:sp>
        <p:nvSpPr>
          <p:cNvPr id="3" name="TextBox 2">
            <a:extLst>
              <a:ext uri="{FF2B5EF4-FFF2-40B4-BE49-F238E27FC236}">
                <a16:creationId xmlns:a16="http://schemas.microsoft.com/office/drawing/2014/main" id="{0AA05787-7240-D910-EC07-465A8426E645}"/>
              </a:ext>
            </a:extLst>
          </p:cNvPr>
          <p:cNvSpPr txBox="1"/>
          <p:nvPr/>
        </p:nvSpPr>
        <p:spPr>
          <a:xfrm>
            <a:off x="656303" y="1734411"/>
            <a:ext cx="8362335" cy="2031325"/>
          </a:xfrm>
          <a:prstGeom prst="rect">
            <a:avLst/>
          </a:prstGeom>
          <a:noFill/>
        </p:spPr>
        <p:txBody>
          <a:bodyPr wrap="square">
            <a:spAutoFit/>
          </a:bodyPr>
          <a:lstStyle/>
          <a:p>
            <a:r>
              <a:rPr lang="en-IN" dirty="0"/>
              <a:t>The </a:t>
            </a:r>
            <a:r>
              <a:rPr lang="en-IN" b="1" dirty="0"/>
              <a:t>Nutrition Deficiency Detection System</a:t>
            </a:r>
            <a:r>
              <a:rPr lang="en-IN" dirty="0"/>
              <a:t> is developed to help users identify possible nutritional deficiencies based on their health information and symptoms. The application provides quick analysis, generates nutrition reports, and recommends suitable foods for improving overall health. This system makes nutritional monitoring easier, faster, and more accessible for users.</a:t>
            </a:r>
          </a:p>
          <a:p>
            <a:br>
              <a:rPr lang="en-IN" dirty="0"/>
            </a:br>
            <a:endParaRPr lang="en-IN" dirty="0"/>
          </a:p>
        </p:txBody>
      </p:sp>
    </p:spTree>
    <p:extLst>
      <p:ext uri="{BB962C8B-B14F-4D97-AF65-F5344CB8AC3E}">
        <p14:creationId xmlns:p14="http://schemas.microsoft.com/office/powerpoint/2010/main" val="3190143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31</TotalTime>
  <Words>1940</Words>
  <Application>Microsoft Office PowerPoint</Application>
  <PresentationFormat>On-screen Show (4:3)</PresentationFormat>
  <Paragraphs>107</Paragraphs>
  <Slides>17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 Nutrition Deficiency Detection System Smart-Bridge Project </vt:lpstr>
      <vt:lpstr>Introduction</vt:lpstr>
      <vt:lpstr>Problem Statement</vt:lpstr>
      <vt:lpstr>Project Objectives</vt:lpstr>
      <vt:lpstr>Existing System</vt:lpstr>
      <vt:lpstr>Proposed System</vt:lpstr>
      <vt:lpstr>Technical Architecture</vt:lpstr>
      <vt:lpstr>Functional Requirements</vt:lpstr>
      <vt:lpstr>Non-Functional Requirements</vt:lpstr>
      <vt:lpstr>Database Design</vt:lpstr>
      <vt:lpstr>ER Diagram</vt:lpstr>
      <vt:lpstr>Development Process</vt:lpstr>
      <vt:lpstr>Execution Flow</vt:lpstr>
      <vt:lpstr>Results and Output</vt:lpstr>
      <vt:lpstr>Results and Output</vt:lpstr>
      <vt:lpstr>Future Scope</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AnuKumari AnuKumari</dc:creator>
  <cp:keywords/>
  <dc:description>generated using python-pptx</dc:description>
  <cp:lastModifiedBy>AnuKumari AnuKumari</cp:lastModifiedBy>
  <cp:revision>1</cp:revision>
  <dcterms:created xsi:type="dcterms:W3CDTF">2013-01-27T09:14:16Z</dcterms:created>
  <dcterms:modified xsi:type="dcterms:W3CDTF">2026-06-26T10:12:48Z</dcterms:modified>
  <cp:category/>
</cp:coreProperties>
</file>